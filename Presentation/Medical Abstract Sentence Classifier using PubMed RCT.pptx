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75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349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86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30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64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09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19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8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530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22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2290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179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4342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348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900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96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15C96-A6F1-43C9-BA7E-D0AB9A5130D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E57A75F-1275-445A-B709-78D56E1EB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95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547AEE-F30A-A8EE-5091-BE1B06C4A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6602" y="1649105"/>
            <a:ext cx="8915399" cy="1402213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Abstract Sentence Classifier using PubMed RCT</a:t>
            </a:r>
            <a:endParaRPr lang="en-IN" sz="4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B30E11-5AEB-A9C7-791D-49D6BBC51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4004" y="4190279"/>
            <a:ext cx="8915399" cy="1126283"/>
          </a:xfrm>
        </p:spPr>
        <p:txBody>
          <a:bodyPr>
            <a:normAutofit/>
          </a:bodyPr>
          <a:lstStyle/>
          <a:p>
            <a:pPr algn="r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-By </a:t>
            </a:r>
          </a:p>
          <a:p>
            <a:pPr algn="r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Silviya X</a:t>
            </a:r>
          </a:p>
          <a:p>
            <a:pPr algn="r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/>
          </a:p>
          <a:p>
            <a:endParaRPr lang="en-IN" sz="24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22703F8-E0B2-A4F8-EBA8-6D0228C3095F}"/>
              </a:ext>
            </a:extLst>
          </p:cNvPr>
          <p:cNvSpPr txBox="1">
            <a:spLocks/>
          </p:cNvSpPr>
          <p:nvPr/>
        </p:nvSpPr>
        <p:spPr>
          <a:xfrm>
            <a:off x="2589214" y="4777379"/>
            <a:ext cx="8219200" cy="11262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2304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DD7238-F1E4-327F-AD1D-5D5E65E6E7E6}"/>
              </a:ext>
            </a:extLst>
          </p:cNvPr>
          <p:cNvSpPr txBox="1"/>
          <p:nvPr/>
        </p:nvSpPr>
        <p:spPr>
          <a:xfrm>
            <a:off x="1571946" y="80327"/>
            <a:ext cx="10253609" cy="6697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research abstracts contain large amounts of textual information, making manual identification and organization of sentence roles time-consuming.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Natural Language Processing (NLP), this project automatically classifies each sentence of a medical abstract into five categories: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 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NLP techniques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medical research text.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 and represent medical sentences for classification.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and compare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Regression, Text-CNN, and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models.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models using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and Macro F1-score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the best-performing model using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129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74B5A2-C95C-6DB4-0488-BE55C1B9C924}"/>
              </a:ext>
            </a:extLst>
          </p:cNvPr>
          <p:cNvSpPr txBox="1"/>
          <p:nvPr/>
        </p:nvSpPr>
        <p:spPr>
          <a:xfrm>
            <a:off x="1571945" y="99010"/>
            <a:ext cx="10304980" cy="6652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Python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Processing: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Pandas, NumPy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NLP: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Text preprocessing, TF-IDF, text vectorization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Scikit-learn, Logistic Regression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TensorFlow / </a:t>
            </a:r>
            <a:r>
              <a:rPr lang="en-IN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Text-CNN, </a:t>
            </a:r>
            <a:r>
              <a:rPr lang="en-IN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Accuracy, Macro F1, Classification Report, Confusion Matrix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Saving: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Joblib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Environment: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Google </a:t>
            </a:r>
            <a:r>
              <a:rPr lang="en-IN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</a:p>
          <a:p>
            <a:pPr lvl="1">
              <a:lnSpc>
                <a:spcPct val="150000"/>
              </a:lnSpc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PubMed 20k RCT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Contains sentences from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PubMed clinical research abstracts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sentence has a predefined section label.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target classes: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BACKGROUND, OBJECTIVE, METHODS, RESULTS and CONCLUSIONS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is divided into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Training, Validation, and Test sets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9474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02730C-0023-C279-E7DC-FCDB6D0F4B08}"/>
              </a:ext>
            </a:extLst>
          </p:cNvPr>
          <p:cNvSpPr txBox="1"/>
          <p:nvPr/>
        </p:nvSpPr>
        <p:spPr>
          <a:xfrm>
            <a:off x="3069403" y="285832"/>
            <a:ext cx="6526659" cy="628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Workflow</a:t>
            </a:r>
          </a:p>
          <a:p>
            <a:pPr>
              <a:buNone/>
            </a:pPr>
            <a:endParaRPr lang="en-IN" sz="17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PubMed RCT Dataset Collection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Loading &amp; Exploration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Feature Extraction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 (Logistic Regression + Text-CNN + </a:t>
            </a:r>
            <a:r>
              <a:rPr lang="en-IN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Evaluation (Accuracy + Macro F1 + Classification Report)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Comparison &amp; Best Model Selection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Saving using </a:t>
            </a:r>
            <a:r>
              <a:rPr lang="en-IN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Joblib</a:t>
            </a:r>
            <a:endParaRPr lang="en-IN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lvl="1"/>
            <a:r>
              <a:rPr lang="en-IN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 Development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Abstract Sentence Classification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</a:p>
          <a:p>
            <a:pPr lvl="1"/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Color-Coded Prediction Output</a:t>
            </a:r>
          </a:p>
        </p:txBody>
      </p:sp>
    </p:spTree>
    <p:extLst>
      <p:ext uri="{BB962C8B-B14F-4D97-AF65-F5344CB8AC3E}">
        <p14:creationId xmlns:p14="http://schemas.microsoft.com/office/powerpoint/2010/main" val="3717721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5D69D7-3EF0-A4A1-E1AC-D2BFA1CDDC70}"/>
              </a:ext>
            </a:extLst>
          </p:cNvPr>
          <p:cNvSpPr txBox="1"/>
          <p:nvPr/>
        </p:nvSpPr>
        <p:spPr>
          <a:xfrm>
            <a:off x="1726058" y="103410"/>
            <a:ext cx="10171416" cy="669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 &amp; Data Quality Checks</a:t>
            </a:r>
          </a:p>
          <a:p>
            <a:pPr>
              <a:lnSpc>
                <a:spcPct val="150000"/>
              </a:lnSpc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Loading &amp; Structuring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Loaded the raw PubMed RCT dataset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Parsed the text data into a structured Pandas </a:t>
            </a:r>
            <a:r>
              <a:rPr lang="en-US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DataFrame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</a:t>
            </a:r>
            <a:r>
              <a:rPr lang="en-US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abstract_id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sentence, and label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Checks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dataset shape and structure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for 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missing/null values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for 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 records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Examined the 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label/class distribution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Verified the five target classes: 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BACKGROUND, OBJECTIVE, METHODS, RESULTS and CONCLUSIONS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Separated sentence text as input variable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Separated section label as target variable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Encoded the categorical labels for model training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Maintained separate 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training, validation, and test datasets</a:t>
            </a: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1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851FF1-342A-749A-C562-85EFEB41CFA3}"/>
              </a:ext>
            </a:extLst>
          </p:cNvPr>
          <p:cNvSpPr txBox="1"/>
          <p:nvPr/>
        </p:nvSpPr>
        <p:spPr>
          <a:xfrm>
            <a:off x="1736333" y="311720"/>
            <a:ext cx="10058399" cy="6189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Preparation: TF-IDF</a:t>
            </a:r>
          </a:p>
          <a:p>
            <a:pPr algn="ctr">
              <a:lnSpc>
                <a:spcPct val="150000"/>
              </a:lnSpc>
              <a:buNone/>
            </a:pPr>
            <a:endParaRPr lang="en-US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Text Feature Extraction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(Term Frequency–Inverse Document Frequency)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convert text into numerical features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Transformed medical sentences into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sparse numerical feature matrix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Fitted the TF-IDF vectorizer on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data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Feature Transformation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the same fitted vectorizer to validation and test datasets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Ensured consistent feature representation across all datasets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Input for Baseline Model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features were used as input to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classifier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provided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classical NLP baseline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comparison with neural models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Medical Sentences → TF-IDF Vectorization → Numerical Feature Matrix →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4047934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6C279A-0870-19EF-FA5F-84FC0D67A143}"/>
              </a:ext>
            </a:extLst>
          </p:cNvPr>
          <p:cNvSpPr txBox="1"/>
          <p:nvPr/>
        </p:nvSpPr>
        <p:spPr>
          <a:xfrm>
            <a:off x="1654139" y="62405"/>
            <a:ext cx="10130319" cy="6733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Model: Logistic Regression</a:t>
            </a:r>
          </a:p>
          <a:p>
            <a:pPr>
              <a:lnSpc>
                <a:spcPct val="150000"/>
              </a:lnSpc>
              <a:buNone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Model Selection</a:t>
            </a:r>
            <a:endParaRPr lang="en-IN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the classical NLP baseline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Suitable for multi-class sentence classification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Model Training</a:t>
            </a:r>
            <a:endParaRPr lang="en-IN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feature matrix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Target: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Encoded sentence labels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the model using the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dataset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Model Validation</a:t>
            </a:r>
            <a:endParaRPr lang="en-IN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performance on the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dataset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 F1-score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a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report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IN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individual classes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Purpose</a:t>
            </a:r>
            <a:endParaRPr lang="en-IN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Established a baseline performance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Provided a reference point for comparison with </a:t>
            </a:r>
            <a:r>
              <a:rPr lang="en-IN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Text-CNN and </a:t>
            </a:r>
            <a:r>
              <a:rPr lang="en-IN" sz="175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lang="en-IN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6637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406181-E4D5-E09E-B83E-C82F40CB9ABC}"/>
              </a:ext>
            </a:extLst>
          </p:cNvPr>
          <p:cNvSpPr txBox="1"/>
          <p:nvPr/>
        </p:nvSpPr>
        <p:spPr>
          <a:xfrm>
            <a:off x="1661844" y="319432"/>
            <a:ext cx="10225355" cy="320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Regression: Model Evaluation</a:t>
            </a:r>
          </a:p>
          <a:p>
            <a:pPr algn="ctr">
              <a:lnSpc>
                <a:spcPct val="150000"/>
              </a:lnSpc>
              <a:buNone/>
            </a:pPr>
            <a:endParaRPr lang="en-IN" sz="10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Evaluation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the trained Logistic Regression model on the validation dataset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 F1-score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83.12%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 F1-score: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76.71%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a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Report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C90509-0397-4C66-31BB-BB78C1300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992" y="3785258"/>
            <a:ext cx="5406267" cy="249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4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9E55B4-548C-36CF-DC23-758A082586DD}"/>
              </a:ext>
            </a:extLst>
          </p:cNvPr>
          <p:cNvSpPr txBox="1"/>
          <p:nvPr/>
        </p:nvSpPr>
        <p:spPr>
          <a:xfrm>
            <a:off x="1753884" y="208697"/>
            <a:ext cx="8684231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Matrix Analysis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a confusion matrix to understand prediction errors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 labels vs predicted labels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which sentence categories were frequently confused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Helped understand class-level model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58E24-2081-843B-EFC6-8E032BCFB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508" y="2335561"/>
            <a:ext cx="5037123" cy="403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03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2CB0BD-D3AA-7FD4-4A4C-8765E3BF8D42}"/>
              </a:ext>
            </a:extLst>
          </p:cNvPr>
          <p:cNvSpPr txBox="1"/>
          <p:nvPr/>
        </p:nvSpPr>
        <p:spPr>
          <a:xfrm>
            <a:off x="1705509" y="476913"/>
            <a:ext cx="9883739" cy="5497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NLP Preparation</a:t>
            </a:r>
          </a:p>
          <a:p>
            <a:pPr algn="ctr">
              <a:lnSpc>
                <a:spcPct val="150000"/>
              </a:lnSpc>
            </a:pPr>
            <a:endParaRPr lang="en-IN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Text Vectorization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medical sentences into numerical sequences using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TextVectorization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Vocabulary size: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50,000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Sequence length: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 tokens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</a:pPr>
            <a:endParaRPr lang="en-I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Dataset Preparation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training, validation, and test sentences into fixed-length sequences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numerical sequences as input for neural network models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Neural Models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Text-CNN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captures important local patterns and phrases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captures contextual information from both directions</a:t>
            </a:r>
          </a:p>
        </p:txBody>
      </p:sp>
    </p:spTree>
    <p:extLst>
      <p:ext uri="{BB962C8B-B14F-4D97-AF65-F5344CB8AC3E}">
        <p14:creationId xmlns:p14="http://schemas.microsoft.com/office/powerpoint/2010/main" val="839719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247663-8178-E258-224A-11CC25E85908}"/>
              </a:ext>
            </a:extLst>
          </p:cNvPr>
          <p:cNvSpPr txBox="1"/>
          <p:nvPr/>
        </p:nvSpPr>
        <p:spPr>
          <a:xfrm>
            <a:off x="1579651" y="77954"/>
            <a:ext cx="10215081" cy="6702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Text-CNN Model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Model Architecture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Text-CNN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sequence-based text classification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Fixed-length token sequences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an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 layer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128 dimensions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to learn word representations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1D Convolution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128 filters with kernel size 5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to capture important local patterns in sentences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 layers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 units)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classification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Dropout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reduce overfitting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layer predicts one of the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sentence categories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Training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the Text-CNN model for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epochs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the prepared token sequences as input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performance on the validation dataset 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Validation Performance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80.72%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 F1-score: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74.00%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Sentence →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TextVectorization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Embedding (128) → Conv1D (128 filters, kernel 5) → Dense (64) → Dropout → Output (5 Classes)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70E03-C36D-5A41-666F-071AEE1B5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079" y="3090238"/>
            <a:ext cx="4050240" cy="214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40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F8D29-F8DD-BCE7-CE34-A3260536119B}"/>
              </a:ext>
            </a:extLst>
          </p:cNvPr>
          <p:cNvSpPr txBox="1"/>
          <p:nvPr/>
        </p:nvSpPr>
        <p:spPr>
          <a:xfrm>
            <a:off x="1705510" y="262620"/>
            <a:ext cx="10161142" cy="6332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Model Architecture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Bidirectional LSTM (</a:t>
            </a:r>
            <a:r>
              <a:rPr lang="en-IN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sequence-based text classification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Fixed-length token sequences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an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 layer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128 dimensions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)to learn word representations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Bidirectional LSTM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 units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)to capture contextual information from both directions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 layer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 units) 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classification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Dropout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reduce overfitting 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layer predicts one of the </a:t>
            </a:r>
            <a:r>
              <a:rPr lang="en-US" alt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sentence categories</a:t>
            </a:r>
            <a:r>
              <a:rPr lang="en-US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Training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the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for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epochs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the prepared token sequences as input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performance on the validation dataset 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Validation Performance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81.40%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 F1-score: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75.07% 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Sentence →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TextVectorization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Embedding (128) →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(64) → Dense (64) → Dropout → Output (5 Classes)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007113-068B-9834-C907-6597F2743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383" y="3064270"/>
            <a:ext cx="3948408" cy="216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4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10381A-2882-E8D3-C764-D06D802BA733}"/>
              </a:ext>
            </a:extLst>
          </p:cNvPr>
          <p:cNvSpPr txBox="1"/>
          <p:nvPr/>
        </p:nvSpPr>
        <p:spPr>
          <a:xfrm>
            <a:off x="1684959" y="373071"/>
            <a:ext cx="9819651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Comparison &amp; Final Model Selection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Comparison</a:t>
            </a:r>
          </a:p>
          <a:p>
            <a:pPr>
              <a:lnSpc>
                <a:spcPct val="150000"/>
              </a:lnSpc>
            </a:pP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31831A9-7D56-3B25-C8F4-2862CC1C7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732899"/>
              </p:ext>
            </p:extLst>
          </p:nvPr>
        </p:nvGraphicFramePr>
        <p:xfrm>
          <a:off x="3178628" y="1420316"/>
          <a:ext cx="6832315" cy="143654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04845">
                  <a:extLst>
                    <a:ext uri="{9D8B030D-6E8A-4147-A177-3AD203B41FA5}">
                      <a16:colId xmlns:a16="http://schemas.microsoft.com/office/drawing/2014/main" val="2764530846"/>
                    </a:ext>
                  </a:extLst>
                </a:gridCol>
                <a:gridCol w="2024009">
                  <a:extLst>
                    <a:ext uri="{9D8B030D-6E8A-4147-A177-3AD203B41FA5}">
                      <a16:colId xmlns:a16="http://schemas.microsoft.com/office/drawing/2014/main" val="1174666812"/>
                    </a:ext>
                  </a:extLst>
                </a:gridCol>
                <a:gridCol w="2003461">
                  <a:extLst>
                    <a:ext uri="{9D8B030D-6E8A-4147-A177-3AD203B41FA5}">
                      <a16:colId xmlns:a16="http://schemas.microsoft.com/office/drawing/2014/main" val="1823562245"/>
                    </a:ext>
                  </a:extLst>
                </a:gridCol>
              </a:tblGrid>
              <a:tr h="303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Validation Macro F1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144323"/>
                  </a:ext>
                </a:extLst>
              </a:tr>
              <a:tr h="303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Text-CNN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80.72%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74.00%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178486"/>
                  </a:ext>
                </a:extLst>
              </a:tr>
              <a:tr h="3036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BiLSTM</a:t>
                      </a:r>
                      <a:endParaRPr lang="en-IN" sz="17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81.40%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75.07%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71520"/>
                  </a:ext>
                </a:extLst>
              </a:tr>
              <a:tr h="3849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TF-IDF + 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83.12%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76.71%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42312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C2FFDE1-E621-9153-DBA1-65DD652E10A9}"/>
              </a:ext>
            </a:extLst>
          </p:cNvPr>
          <p:cNvSpPr txBox="1"/>
          <p:nvPr/>
        </p:nvSpPr>
        <p:spPr>
          <a:xfrm>
            <a:off x="1684959" y="3120374"/>
            <a:ext cx="9945385" cy="318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Model Selection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all three models using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 F1-score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+ Logistic Regression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achieved the best validation performance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Selected it as the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model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the selected model for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test evaluation and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deployment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Model: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+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556834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F954A4-A291-634B-B0A1-B940B60733D9}"/>
              </a:ext>
            </a:extLst>
          </p:cNvPr>
          <p:cNvSpPr txBox="1"/>
          <p:nvPr/>
        </p:nvSpPr>
        <p:spPr>
          <a:xfrm>
            <a:off x="1602770" y="207769"/>
            <a:ext cx="998648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Test Evaluation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Final Model Evaluation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the selected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+ Logistic Regression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on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unseen test dataset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predictions for the test sentences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 F1-score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report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Final Test Performance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82.29%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 F1-score: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75.98% 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Classification Report</a:t>
            </a: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F9D03-D561-4EFB-C3D0-40B2DE13C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365" y="4428296"/>
            <a:ext cx="4524659" cy="215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94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CAEBED-2098-99A3-C84A-94994F69C74F}"/>
              </a:ext>
            </a:extLst>
          </p:cNvPr>
          <p:cNvSpPr txBox="1"/>
          <p:nvPr/>
        </p:nvSpPr>
        <p:spPr>
          <a:xfrm>
            <a:off x="1623317" y="163350"/>
            <a:ext cx="9698803" cy="6109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 Functions &amp; Demo</a:t>
            </a:r>
          </a:p>
          <a:p>
            <a:pPr>
              <a:lnSpc>
                <a:spcPct val="150000"/>
              </a:lnSpc>
              <a:buNone/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Prediction Function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 prediction function for classifying individual medical sentences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the saved 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vectorizer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input sentence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Passed the transformed features to the 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 model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Returned the predicted sentence category </a:t>
            </a:r>
          </a:p>
          <a:p>
            <a:pPr>
              <a:lnSpc>
                <a:spcPct val="150000"/>
              </a:lnSpc>
              <a:buNone/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Abstract Classification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Accepted a complete medical abstract as input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 the abstract into individual sentences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Classified each sentence separately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Displayed the predicted category for every sentence </a:t>
            </a:r>
          </a:p>
          <a:p>
            <a:pPr>
              <a:lnSpc>
                <a:spcPct val="150000"/>
              </a:lnSpc>
              <a:buNone/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Example Prediction</a:t>
            </a:r>
          </a:p>
          <a:p>
            <a:pPr lvl="1">
              <a:lnSpc>
                <a:spcPct val="150000"/>
              </a:lnSpc>
            </a:pPr>
            <a:r>
              <a:rPr lang="en-US" sz="175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</a:t>
            </a:r>
            <a:r>
              <a:rPr lang="en-US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“The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study was conducted to evaluate the effectiveness of the treatment.”</a:t>
            </a:r>
          </a:p>
          <a:p>
            <a:pPr lvl="1">
              <a:lnSpc>
                <a:spcPct val="150000"/>
              </a:lnSpc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Class: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pPr lvl="1">
              <a:lnSpc>
                <a:spcPct val="150000"/>
              </a:lnSpc>
            </a:pPr>
            <a:endParaRPr lang="en-US" sz="1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248B4-6E1E-3299-3FF7-27557A8EB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702" y="5932275"/>
            <a:ext cx="8936017" cy="68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46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AE1339-F158-2C7E-8357-5617D24D34FE}"/>
              </a:ext>
            </a:extLst>
          </p:cNvPr>
          <p:cNvSpPr txBox="1"/>
          <p:nvPr/>
        </p:nvSpPr>
        <p:spPr>
          <a:xfrm>
            <a:off x="1656392" y="109962"/>
            <a:ext cx="9945384" cy="279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Color-Coded Abstract Output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Result Presentation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Displayed the classification result for each sentence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sentence is shown together with its predicted category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different background colors for the five sentence classes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makes the abstract structure easier to understand visually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EE90D4-0946-1DC9-9417-5DE3847B0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877" y="2988437"/>
            <a:ext cx="8840029" cy="36260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66B89F-4140-220A-C651-2964F3DA6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003" y="923917"/>
            <a:ext cx="1905098" cy="170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73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0692A7-E97F-39A4-8283-551A626E5162}"/>
              </a:ext>
            </a:extLst>
          </p:cNvPr>
          <p:cNvSpPr txBox="1"/>
          <p:nvPr/>
        </p:nvSpPr>
        <p:spPr>
          <a:xfrm>
            <a:off x="1592495" y="183898"/>
            <a:ext cx="10140593" cy="651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Persistence &amp; </a:t>
            </a:r>
            <a:r>
              <a:rPr lang="en-US" sz="175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</a:t>
            </a:r>
          </a:p>
          <a:p>
            <a:pPr>
              <a:lnSpc>
                <a:spcPct val="150000"/>
              </a:lnSpc>
              <a:buNone/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Model Persistence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Saved the trained 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 model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Saved the 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vectorizer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sz="1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joblib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saving and loading the model components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the trained model to be reused without retraining </a:t>
            </a:r>
          </a:p>
          <a:p>
            <a:pPr>
              <a:lnSpc>
                <a:spcPct val="150000"/>
              </a:lnSpc>
              <a:buNone/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175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 </a:t>
            </a:r>
            <a:r>
              <a:rPr lang="en-US" sz="175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application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can enter a complete medical abstract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application splits the abstract into sentences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sentence is classified using the saved </a:t>
            </a: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+ Logistic Regression</a:t>
            </a: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pipeline </a:t>
            </a:r>
          </a:p>
          <a:p>
            <a:pPr>
              <a:lnSpc>
                <a:spcPct val="150000"/>
              </a:lnSpc>
              <a:buNone/>
            </a:pP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Output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the predicted label for each sentence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color-coded output for easy interpretation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the five sentence categories:</a:t>
            </a:r>
            <a:br>
              <a:rPr lang="en-US" sz="1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BACKGROUND, OBJECTIVE, METHODS, RESULTS, CONCLUSIONS</a:t>
            </a:r>
          </a:p>
        </p:txBody>
      </p:sp>
    </p:spTree>
    <p:extLst>
      <p:ext uri="{BB962C8B-B14F-4D97-AF65-F5344CB8AC3E}">
        <p14:creationId xmlns:p14="http://schemas.microsoft.com/office/powerpoint/2010/main" val="3822118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37BBD5-1C57-D5B1-B822-C6402248B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301" y="1123831"/>
            <a:ext cx="10438544" cy="4610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7042B3-3543-367B-C77E-95F6A2BC39F7}"/>
              </a:ext>
            </a:extLst>
          </p:cNvPr>
          <p:cNvSpPr txBox="1"/>
          <p:nvPr/>
        </p:nvSpPr>
        <p:spPr>
          <a:xfrm>
            <a:off x="5322013" y="380144"/>
            <a:ext cx="1981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Output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100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831E89-E202-7113-B3D2-73E3FFD63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886" y="158582"/>
            <a:ext cx="9989063" cy="654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745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250B0A-9744-138A-C83B-1976E7A99AAA}"/>
              </a:ext>
            </a:extLst>
          </p:cNvPr>
          <p:cNvSpPr txBox="1"/>
          <p:nvPr/>
        </p:nvSpPr>
        <p:spPr>
          <a:xfrm>
            <a:off x="1547973" y="146432"/>
            <a:ext cx="10452243" cy="593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>
              <a:lnSpc>
                <a:spcPct val="150000"/>
              </a:lnSpc>
              <a:buNone/>
            </a:pP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Workflow</a:t>
            </a:r>
          </a:p>
          <a:p>
            <a:pPr lvl="1">
              <a:lnSpc>
                <a:spcPct val="150000"/>
              </a:lnSpc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→ Data Preprocessing → Data Quality Checks → TF-IDF → Logistic Regression → Neural Model Comparison → Final Model Selection → Test Evaluation → </a:t>
            </a:r>
            <a:r>
              <a:rPr lang="en-US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Deployment</a:t>
            </a:r>
          </a:p>
          <a:p>
            <a:pPr>
              <a:lnSpc>
                <a:spcPct val="150000"/>
              </a:lnSpc>
              <a:buNone/>
            </a:pP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Results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</a:t>
            </a: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Text-CNN, </a:t>
            </a:r>
            <a:r>
              <a:rPr lang="en-US" sz="165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BiLSTM</a:t>
            </a: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TF-IDF + Logistic Regression</a:t>
            </a: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+ Logistic Regression</a:t>
            </a: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achieved the best validation performance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Accuracy: </a:t>
            </a: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83.12%</a:t>
            </a: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Macro F1-score: </a:t>
            </a: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76.71%</a:t>
            </a: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Test Accuracy: </a:t>
            </a: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82.29%</a:t>
            </a: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Test Macro F1-score: </a:t>
            </a: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75.98%</a:t>
            </a: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deployed the selected model using </a:t>
            </a:r>
            <a:r>
              <a:rPr lang="en-US" sz="16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6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takeaway</a:t>
            </a:r>
          </a:p>
          <a:p>
            <a:pPr lvl="1">
              <a:lnSpc>
                <a:spcPct val="150000"/>
              </a:lnSpc>
            </a:pPr>
            <a:r>
              <a:rPr lang="en-US" sz="16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demonstrates an end-to-end Biomedical NLP pipeline for automatically identifying the structural role of sentences in medical research abstracts.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66545D-92ED-6D50-3DA5-F81A3CC793FA}"/>
              </a:ext>
            </a:extLst>
          </p:cNvPr>
          <p:cNvSpPr txBox="1"/>
          <p:nvPr/>
        </p:nvSpPr>
        <p:spPr>
          <a:xfrm>
            <a:off x="3294788" y="6188386"/>
            <a:ext cx="609771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n-IN" sz="2800" i="1" kern="1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60700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157</TotalTime>
  <Words>1454</Words>
  <Application>Microsoft Office PowerPoint</Application>
  <PresentationFormat>Widescreen</PresentationFormat>
  <Paragraphs>257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Century Gothic</vt:lpstr>
      <vt:lpstr>Wingdings 3</vt:lpstr>
      <vt:lpstr>Wisp</vt:lpstr>
      <vt:lpstr>Medical Abstract Sentence Classifier using PubMed RCT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Silviya X</dc:creator>
  <cp:lastModifiedBy>Silviya X</cp:lastModifiedBy>
  <cp:revision>8</cp:revision>
  <dcterms:created xsi:type="dcterms:W3CDTF">2026-09-04T14:16:05Z</dcterms:created>
  <dcterms:modified xsi:type="dcterms:W3CDTF">2026-09-04T17:42:55Z</dcterms:modified>
</cp:coreProperties>
</file>